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00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Bayésien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Black-Litterman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3200400"/>
            <a:ext cx="109728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C.5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5844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 3/5   Domaine : Probas &amp; 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89534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Paris  Ing4  Groupe 01 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41879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Prenom NOM  Prenom NOM  Prenom NOM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548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Markowitz ne suffit pas 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0" y="111556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8872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rendements historiques sont instables et trompeurs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93852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201168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amplifie le bruit  =&gt; portefeuilles extremes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76148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28346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integre des vues probabilistes d expert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58444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365760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par la majorite des gestionnaires institutionnels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0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Motivation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depasser Markowitz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13432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1343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Black-Litterman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bayesienne, prior CAPM, vues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75304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753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Vues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42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Finance, 4 vues avec confiances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51560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5156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11887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6184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sous contraintes sectorielles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13432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1343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40680" y="2450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&amp; Graphiques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8803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Frontieres efficaces, allocations, metriques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575304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753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4068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142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extensions possibles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Markowitz est sensible au bruit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Motivation  Partie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503920" cy="804672"/>
          </a:xfrm>
          <a:prstGeom prst="rect">
            <a:avLst/>
          </a:prstGeom>
          <a:solidFill>
            <a:srgbClr val="FFF3CD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4864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1556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 les rendements historiques sont le pire estimateur du futur.   Merton (1980)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2697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changement dans les rendements historiques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 des allocations radicalement differentes.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011680"/>
            <a:ext cx="2697480" cy="4114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Portefeuilles extremes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concentre souvent plus de 70% dans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 2 actifs  peu diversifie en pratique.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011680"/>
            <a:ext cx="2697480" cy="41148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le consensus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n utilise pas l 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contenue dans les prix actuels du marche.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850392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908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=&gt;  Black-Litterman : combiner le consensus du marche avec les vues probabilistes de l investisseur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: le modele Black-Litterman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Approche bayesienne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240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equilibre 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(CAPM inverse)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127248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1097280"/>
            <a:ext cx="2240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investisseur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confiance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4688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097280"/>
            <a:ext cx="224028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mu_BL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de Black-Litterman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[(tauS)^-1 + Pt O^-1 P]^-1     mu_BL = M x [(tauS)^-1 . Pi  +  Pt O^-1 . Q]     S_BL = S +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equilibre (prior)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/ 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99232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/ valeurs des vues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des vues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51776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du prior (~1/nb annees)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Rendements d equilibre (Prior CAPM)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Le prior bayesien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CAPM inverse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663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investisseurs sont rationnels et detiennent le portefeuille de marche, les prix actuels revelent implicitement les rendements attendus.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standard  =&gt;  E[r] = RF + beta x (E[rm] - RF)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inverse   =&gt;  Pi = delta x Sigma x w_mkt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2.5  (aversion au risque, valeur standard BL)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w_mkt = poids de marche (ici uniformes - simplification)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051560"/>
            <a:ext cx="3383280" cy="356616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1051560"/>
            <a:ext cx="3383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51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du prior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36192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 dans les prix de marche =&gt; stable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l information de tous les investisseurs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diversifies =&gt; pas d extremes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Reduit l effet garbage 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Le prior seul donne l optimum de marche. On va maintenant l ajuster avec nos opinions.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Vues de l investisseur avec confiances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03  Donnees Yahoo Finance  Periode 2021-2024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1295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 att.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 O_ii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(vue forte)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 &gt; 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3127248"/>
            <a:ext cx="4892040" cy="12618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 Omega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51129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O_ii  =  ((1 - ci) / ci)  x  pi Sigma pi^T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7705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ci =&gt; 0, plus O_ii =&gt; infini, plus la vue est ignoree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3127248"/>
            <a:ext cx="3474720" cy="1261872"/>
          </a:xfrm>
          <a:prstGeom prst="rect">
            <a:avLst/>
          </a:prstGeom>
          <a:solidFill>
            <a:srgbClr val="FFF8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vues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352958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Absolue  =&gt; P[i,k] = 1  (1 actif)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=&gt; P[i,A]=+1, P[i,B]=-1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: Yahoo Finance  8 actifs  2021-2024  ~1 000 jours de trading  Prix ajustes dividendes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Optimisation sous contraintes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04  Monte-Carlo  60 000 simulations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1463040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maximiser le Ratio de Sharpe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S(w)  =  (wt mu - RF) / sqrt(wt Sigma w)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4%  (bons du Tresor US 10 ans)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3383280" cy="146304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508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&gt;= 0   (long only)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wi = 1  (budget)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secteur &lt;= 40%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249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Monte-Carlo</a:t>
            </a:r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Tirer w ~ Dirichlet(1,...,1)  =&gt;  garantit wi&gt;=0 et Somme(wi)=1 automatiquement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Verifier contrainte sectorielle  =&gt;  si violation, rejeter et recommencer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Calculer Sharpe(w)  =&gt;  garder le meilleur sur 60 000 tirages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2793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=&gt; scipy.optimize (SLSQP) ou cvxpy (programmation quadratique exacte) pour la solution analytique.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6" y="0"/>
            <a:ext cx="164592" cy="514350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Allocations &amp; Rendements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Comparaison Markowitz vs Black-Litterman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5212080" cy="22631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BL+Conf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JNJ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79" y="1051560"/>
            <a:ext cx="3474719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115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de performance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508760"/>
          <a:ext cx="3474720" cy="731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BL+Conf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0" y="3310128"/>
            <a:ext cx="3474718" cy="1581912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0644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est plus conservateur : le prior CAPM tire les rendements vers l equilibre, reduisant les allocations extremes de Markowitz.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4434840"/>
            <a:ext cx="521208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contraintes sectorielles respectees  Tech 32% &lt;= 40%   Finance 38% &lt;= 40%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Frontieres efficaces comparees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Markowitz vs Black-Litterman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4  Frontiere Markowitz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 sur les rendements historiques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Nuage de 10 000 portefeuilles aleatoires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Colories par ratio de Sharpe (plasma)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Etoile = portefeuille tangent (max Sharpe)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frontiere efficace est la borne superieure gauche du nuage : meilleur rendement pour moins de risque.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5  Frontiere BL+Conf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 sur les rendements posteriori mu_BL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Meme methode, mu different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 vues deplacent la frontiere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Etoile = nouvel optimum BL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differences visuelles entre les 2 frontieres montrent directement l impact de nos 4 vues sur la geometrie risque/rendement.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Comparer les 2 frontieres = visualiser l impact de nos vues probabilistes sur les opportunites d investissement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 ensemble  Les 6 graphiques produits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Livrables visuels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30352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-&gt; Posteriori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/ Equilibre / BL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097280"/>
            <a:ext cx="530352" cy="171907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9624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horizontales colorees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097280"/>
            <a:ext cx="530352" cy="1719072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57416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57416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vs BL cote a cote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71800"/>
            <a:ext cx="530352" cy="1719072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1832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+ point optimal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2971800"/>
            <a:ext cx="530352" cy="171907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49624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BL+Conf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9624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des vues sur la frontiere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2971800"/>
            <a:ext cx="530352" cy="1719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57416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57416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metriques + allocations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graphiques sont sauvegardes en PNG 150 dpi dans results/ a l execution de bl_niveau_bon.py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06  Vers le 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Poids uniformes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capitalisations donneraient un prior plus realiste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Monte-Carlo approche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exacte = programmation quadratique convexe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Vues statiques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Definies manuellement, pas mises a jour dynamiquement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 de couts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commissions + slippage de reequilibrage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(Niveau Excellent)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Vues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momentum / sentiment des news =&gt; vues automatiques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3591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Backtesting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avec reequilibrage trimestriel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Vraies capit.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Bloomberg / Refinitiv pour les poids reels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005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Optimisation exacte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+ OSQP =&gt; solution analytique garantie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Modele BL implemente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 CAPM + vues bayesiennes + posterior analytique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411480" cy="6858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56232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90195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Vues avec confiances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Matrice Omega calibree par niveau de confiance  4 vues testees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752344"/>
            <a:ext cx="41148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52344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9806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contrainte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60k  long-only  budget  secteur &lt;=40%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48456"/>
            <a:ext cx="411480" cy="68580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48456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9417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Frontieres efficaces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86784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 impact des vues sur la geometrie risque/rendement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17720"/>
            <a:ext cx="8503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360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reconcilie la theorie et la pratique  la gestion quantitative devient opiniatre, pas aveugle.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1366</Words>
  <Application>Microsoft Office PowerPoint</Application>
  <PresentationFormat>Affichage à l'écran (16:9)</PresentationFormat>
  <Paragraphs>309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Black-Litterman – Optimisation de Portefeuille Bayésien</dc:title>
  <dc:subject>PptxGenJS Presentation</dc:subject>
  <dc:creator>ECE Paris – Ing4 2026</dc:creator>
  <cp:lastModifiedBy>Pierre-Hugo Cabasset</cp:lastModifiedBy>
  <cp:revision>2</cp:revision>
  <dcterms:created xsi:type="dcterms:W3CDTF">2026-03-28T22:13:31Z</dcterms:created>
  <dcterms:modified xsi:type="dcterms:W3CDTF">2026-03-29T14:33:03Z</dcterms:modified>
</cp:coreProperties>
</file>